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-548640"/>
            <a:ext cx="2926080" cy="2926080"/>
          </a:xfrm>
          <a:prstGeom prst="ellipse">
            <a:avLst/>
          </a:prstGeom>
          <a:solidFill>
            <a:srgbClr val="55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743200" cy="2743200"/>
          </a:xfrm>
          <a:prstGeom prst="ellipse">
            <a:avLst/>
          </a:prstGeom>
          <a:solidFill>
            <a:srgbClr val="1A4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8FF"/>
                </a:solidFill>
              </a:rPr>
              <a:t>DOKUMENTASI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830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Sistem Temu
Kembali Informasi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73552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5D8FF"/>
                </a:solidFill>
              </a:rPr>
              <a:t>Berbasis TF-IDF &amp;
Cosine Similarity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343400"/>
            <a:ext cx="3657600" cy="45720"/>
          </a:xfrm>
          <a:prstGeom prst="rect">
            <a:avLst/>
          </a:prstGeom>
          <a:solidFill>
            <a:srgbClr val="B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4622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8FF"/>
                </a:solidFill>
              </a:rPr>
              <a:t>Mata Kuliah: Sistem Temu Kembali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6C"/>
                </a:solidFill>
              </a:rPr>
              <a:t>Konten Presentasi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609344"/>
            <a:ext cx="6400800" cy="4572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40680" y="1828800"/>
            <a:ext cx="256032" cy="256032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3423" y="184708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81965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Struktur File &amp; Folder</a:t>
            </a:r>
          </a:p>
        </p:txBody>
      </p:sp>
      <p:sp>
        <p:nvSpPr>
          <p:cNvPr id="15" name="Oval 14"/>
          <p:cNvSpPr/>
          <p:nvPr/>
        </p:nvSpPr>
        <p:spPr>
          <a:xfrm>
            <a:off x="5440680" y="2377439"/>
            <a:ext cx="256032" cy="256032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3423" y="2395727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36829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Alur Program (Pipeline)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0" y="2926079"/>
            <a:ext cx="256032" cy="256032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3423" y="29443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91693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Dataset Dokumen PDF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3474720"/>
            <a:ext cx="256032" cy="25603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3423" y="349300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6557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Preprocessing Teks (NLP)</a:t>
            </a:r>
          </a:p>
        </p:txBody>
      </p:sp>
      <p:sp>
        <p:nvSpPr>
          <p:cNvPr id="24" name="Oval 23"/>
          <p:cNvSpPr/>
          <p:nvPr/>
        </p:nvSpPr>
        <p:spPr>
          <a:xfrm>
            <a:off x="5440680" y="4023359"/>
            <a:ext cx="256032" cy="256032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3423" y="404164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014215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Feature Extraction (TF-IDF)</a:t>
            </a:r>
          </a:p>
        </p:txBody>
      </p:sp>
      <p:sp>
        <p:nvSpPr>
          <p:cNvPr id="27" name="Oval 26"/>
          <p:cNvSpPr/>
          <p:nvPr/>
        </p:nvSpPr>
        <p:spPr>
          <a:xfrm>
            <a:off x="5440680" y="4572000"/>
            <a:ext cx="256032" cy="256032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3423" y="459028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56285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Cosine Similarity &amp; Ranking</a:t>
            </a:r>
          </a:p>
        </p:txBody>
      </p:sp>
      <p:sp>
        <p:nvSpPr>
          <p:cNvPr id="30" name="Oval 29"/>
          <p:cNvSpPr/>
          <p:nvPr/>
        </p:nvSpPr>
        <p:spPr>
          <a:xfrm>
            <a:off x="5440680" y="5120640"/>
            <a:ext cx="256032" cy="256032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3423" y="513892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11149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Auto-Correct Query</a:t>
            </a:r>
          </a:p>
        </p:txBody>
      </p:sp>
      <p:sp>
        <p:nvSpPr>
          <p:cNvPr id="33" name="Oval 32"/>
          <p:cNvSpPr/>
          <p:nvPr/>
        </p:nvSpPr>
        <p:spPr>
          <a:xfrm>
            <a:off x="5440680" y="5669280"/>
            <a:ext cx="256032" cy="25603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3423" y="5687568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66013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3560"/>
                </a:solidFill>
              </a:rPr>
              <a:t>Antarmuka Web (Flask)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Struktur File &amp; 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Organisasi kode program secara keseluruhan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389888"/>
            <a:ext cx="4754880" cy="5257800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53312"/>
            <a:ext cx="4754880" cy="5257800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47548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81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76C"/>
                </a:solidFill>
              </a:rPr>
              <a:t>tugas2/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5FE4"/>
                </a:solidFill>
              </a:rPr>
              <a:t>├─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5FE4"/>
                </a:solidFill>
              </a:rPr>
              <a:t>├─ main.py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865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2AC"/>
                </a:solidFill>
              </a:rPr>
              <a:t>├─ generate_ppt.py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83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D3B"/>
                </a:solidFill>
              </a:rPr>
              <a:t>├─ docs/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9900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2AC"/>
                </a:solidFill>
              </a:rPr>
              <a:t>│   ├─ Banten.pdf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2AC"/>
                </a:solidFill>
              </a:rPr>
              <a:t>│   ├─ Daerah_Istimewa_Yogyakarta.pdf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5935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82AC"/>
                </a:solidFill>
              </a:rPr>
              <a:t>│   └─ ... (10 file PDF total)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953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├─ modules/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1970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│   ├─ loader.py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│   ├─ preprocessing.py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│   ├─ feature_extraction.py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51023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│   ├─ similarity.py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54041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│   └─ tfidf.py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7058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4DFF"/>
                </a:solidFill>
              </a:rPr>
              <a:t>└─ templates/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6007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    └─ index.html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31536" y="1389888"/>
            <a:ext cx="6492240" cy="9418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1353312"/>
            <a:ext cx="649224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353312"/>
            <a:ext cx="6492240" cy="54864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59552" y="1572768"/>
            <a:ext cx="347472" cy="34747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1463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app.py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1828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Entry point Flask. Routing GET/POST, serve PDF.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31536" y="2414016"/>
            <a:ext cx="6492240" cy="9418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4960" y="2377440"/>
            <a:ext cx="649224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94960" y="2377440"/>
            <a:ext cx="6492240" cy="54864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59552" y="2596896"/>
            <a:ext cx="347472" cy="34747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487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main.py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852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IRSystem: orkestrator semua modul.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31536" y="3438144"/>
            <a:ext cx="6492240" cy="9418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3401568"/>
            <a:ext cx="649224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94960" y="3401568"/>
            <a:ext cx="6492240" cy="54864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59552" y="3621024"/>
            <a:ext cx="347472" cy="347472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5112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docs/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8770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10 file PDF provinsi, dibaca otomatis saat startup.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31536" y="4462272"/>
            <a:ext cx="6492240" cy="9418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4960" y="4425696"/>
            <a:ext cx="649224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94960" y="4425696"/>
            <a:ext cx="649224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559552" y="4645152"/>
            <a:ext cx="347472" cy="347472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535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modules/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901183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Modul NLP: loader, preprocessor, TF-IDF, similarity.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31536" y="5486400"/>
            <a:ext cx="6492240" cy="9418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94960" y="5449824"/>
            <a:ext cx="649224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94960" y="5449824"/>
            <a:ext cx="649224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559552" y="5669280"/>
            <a:ext cx="347472" cy="347472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5559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templates/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925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index.html: UI Jinja2 untuk halaman web pencarian.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Alur Program (Pipeline)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Dari dokumen PDF hingga hasil pencarian terurut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42646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8988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3611880" cy="64008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591056"/>
            <a:ext cx="438912" cy="43891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6276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276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Load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969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Scan folder docs/, buka tiap PDF,
extrak teks halaman per halaman.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441448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2A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416" y="142646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38988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389888"/>
            <a:ext cx="361188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36008" y="1591056"/>
            <a:ext cx="438912" cy="438912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16276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6276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13969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Case fold → hapus simbol → tokenize
→ stopword removal → Sastrawi 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441448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2A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11896" y="142646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38988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389888"/>
            <a:ext cx="3611880" cy="64008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76488" y="1591056"/>
            <a:ext cx="438912" cy="438912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16276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6276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TF-IDF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213969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Bangun vocabulary, hitung TF, IDF,
TF-IDF per term per dokumen.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" y="398678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95020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950208"/>
            <a:ext cx="3611880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5528" y="4151376"/>
            <a:ext cx="438912" cy="438912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18795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18795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Query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70001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User ketik query → preprocess
→ hitung vektor TF-IDF query.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5001768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2AC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71416" y="398678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395020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3950208"/>
            <a:ext cx="3611880" cy="64008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36008" y="4151376"/>
            <a:ext cx="438912" cy="438912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6008" y="418795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418795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Cosine Similarity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470001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Hitung similarity query vs.
setiap vektor dokumen.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5001768"/>
            <a:ext cx="237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2AC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11896" y="3986784"/>
            <a:ext cx="3611880" cy="23591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20" y="3950208"/>
            <a:ext cx="361188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75320" y="3950208"/>
            <a:ext cx="361188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76488" y="4151376"/>
            <a:ext cx="438912" cy="438912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6488" y="418795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18795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Ranking &amp; Tampil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6488" y="4700016"/>
            <a:ext cx="3218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Urutkan skor DESC, buat snippet
dinamis + highlight kata kunci.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82AC"/>
                </a:solidFill>
              </a:rPr>
              <a:t>* Tahap 1–3 (Load → Preprocess → TF-IDF) berjalan SEKALI saat startup. Tahap 4–6 berjalan setiap kali query baru masuk. 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Dataset &amp; Cara Baca Dokumen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Korpus 10 PDF Provinsi Indonesia  |  modules/loader.py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D3B"/>
                </a:solidFill>
              </a:rPr>
              <a:t>Daftar Dokumen (folder docs/)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911095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109728" cy="40233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947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01.  Banten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" y="2386584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350008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350008"/>
            <a:ext cx="109728" cy="4023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423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02.  Daerah Istimewa Yogyakarta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" y="2862072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25496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825496"/>
            <a:ext cx="109728" cy="402336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03.  Daerah Khusus Ibukota Jakarta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" y="3337560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300984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00984"/>
            <a:ext cx="109728" cy="40233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37413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04.  Jawa Barat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" y="3813048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776472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776472"/>
            <a:ext cx="109728" cy="40233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8496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05.  Jawa Tengah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" y="4288536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251960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251960"/>
            <a:ext cx="109728" cy="4023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3251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06.  Jawa Timur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" y="4764024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4727448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727448"/>
            <a:ext cx="109728" cy="402336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800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07.  Kalimantan Barat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" y="5239512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202936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202936"/>
            <a:ext cx="109728" cy="40233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2760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08.  Kalimantan Selatan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" y="5715000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5678424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678424"/>
            <a:ext cx="109728" cy="40233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7515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09.  Kalimantan Tengah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" y="6190488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" y="6153912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6153912"/>
            <a:ext cx="109728" cy="4023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" y="62270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  10.  Kalimantan Timur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94960" y="1353312"/>
            <a:ext cx="6492240" cy="54864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23560" y="1463040"/>
            <a:ext cx="6126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6C"/>
                </a:solidFill>
              </a:rPr>
              <a:t>Cara Baca PDF  (DocumentLoader)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1828800"/>
            <a:ext cx="603504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0136" y="1984248"/>
            <a:ext cx="6035040" cy="9875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23560" y="1947672"/>
            <a:ext cx="6035040" cy="987552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23560" y="1947672"/>
            <a:ext cx="91440" cy="987552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20391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1.  Scan Folder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33872" y="2386584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os.listdir() mencari semua file *.pdf
dalam folder dataset yang dikonfigurasi.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0136" y="3099815"/>
            <a:ext cx="6035040" cy="9875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23560" y="3063239"/>
            <a:ext cx="6035040" cy="987552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23560" y="3063239"/>
            <a:ext cx="91440" cy="9875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33872" y="31546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2.  Buka File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33872" y="3502151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Menggunakan PyMuPDF atau pdfminer
untuk membuka file satu per satu.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0136" y="4215384"/>
            <a:ext cx="6035040" cy="9875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23560" y="4178808"/>
            <a:ext cx="6035040" cy="987552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23560" y="4178808"/>
            <a:ext cx="91440" cy="987552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33872" y="42702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3.  Ekstrak Teks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33872" y="4617720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Iterasi halaman demi halaman,
gabungkan seluruh teks jadi satu string.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0136" y="5330952"/>
            <a:ext cx="6035040" cy="98755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23560" y="5294376"/>
            <a:ext cx="6035040" cy="987552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23560" y="5294376"/>
            <a:ext cx="91440" cy="9875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33872" y="53858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4.  Simpan ke Dict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33872" y="5733288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{ 'nama.pdf': 'isi teks...' }
Diserahkan ke TextPreprocessor.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Preprocessing Teks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modules/preprocessing.py  |  class TextPreprocessor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426464"/>
            <a:ext cx="4754880" cy="87782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89888"/>
            <a:ext cx="475488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91440" cy="877824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1645920"/>
            <a:ext cx="329184" cy="329184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481328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Case Folding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1810512"/>
            <a:ext cx="40416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Ubah semua huruf ke huruf kecil.
"Jawa BARAT" → "jawa barat"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2414016"/>
            <a:ext cx="4754880" cy="87782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377440"/>
            <a:ext cx="475488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377440"/>
            <a:ext cx="91440" cy="87782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" y="2633472"/>
            <a:ext cx="329184" cy="329184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6609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468880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Remove Non-Alpha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2798064"/>
            <a:ext cx="40416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Hapus angka &amp; simbol, ganti spasi.
Regex: [^a-zA-Z\s]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" y="3401568"/>
            <a:ext cx="4754880" cy="87782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364992"/>
            <a:ext cx="475488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64992"/>
            <a:ext cx="91440" cy="877824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2" y="3621024"/>
            <a:ext cx="329184" cy="329184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64845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456432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Tokenisasi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85616"/>
            <a:ext cx="40416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Pecah kalimat menjadi daftar kata.
NLTK word_tokenize()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" y="4389120"/>
            <a:ext cx="4754880" cy="87782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352544"/>
            <a:ext cx="475488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352544"/>
            <a:ext cx="91440" cy="87782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8952" y="4608576"/>
            <a:ext cx="329184" cy="329184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636007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443983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Stopword Removal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773168"/>
            <a:ext cx="40416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Hapus kata tak bermakna (NLTK BI).
"dan", "yang", "di", "ke"...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" y="5376672"/>
            <a:ext cx="4754880" cy="87782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" y="5340096"/>
            <a:ext cx="475488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5340096"/>
            <a:ext cx="91440" cy="877824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8952" y="5596128"/>
            <a:ext cx="329184" cy="329184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5623559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5431536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6C"/>
                </a:solidFill>
              </a:rPr>
              <a:t>Stemming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760720"/>
            <a:ext cx="40416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Kembalikan kata ke bentuk dasar.
Sastrawi Stemmer (Bahasa Indonesia)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337413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89534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Tabel preprocessing dokumen
(tampilan di web UI)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Perhitungan TF-IDF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modules/feature_extraction.py  |  class FeatureExtractor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Rumus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883664"/>
            <a:ext cx="4754880" cy="43891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47088"/>
            <a:ext cx="47548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929384"/>
            <a:ext cx="960120" cy="27432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5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TF(t,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938528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= Jumlah kemunculan term t dalam dokumen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2395728"/>
            <a:ext cx="4754880" cy="43891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359152"/>
            <a:ext cx="47548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" y="2441448"/>
            <a:ext cx="960120" cy="2743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68879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IDF(t)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450592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= log₁₀( N ÷ df(t) )   —   N = total dokumen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" y="2907792"/>
            <a:ext cx="4754880" cy="43891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871216"/>
            <a:ext cx="47548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" y="2953512"/>
            <a:ext cx="960120" cy="274320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98094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2962656"/>
            <a:ext cx="3456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= TF(t, d)  ×  IDF(t)   (bobot akhir term)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5021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Tahapan di Kode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67912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" y="3986784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950208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950208"/>
            <a:ext cx="73152" cy="40233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9867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5FE4"/>
                </a:solidFill>
              </a:rPr>
              <a:t>compute_tf()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05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Counter(tokens) per dokumen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" y="4462272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425696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425696"/>
            <a:ext cx="73152" cy="4023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46227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build_vocabulary()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4805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Kumpulkan unique term, sort alfabet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" y="4937760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901184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901184"/>
            <a:ext cx="73152" cy="402336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9377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D3B"/>
                </a:solidFill>
              </a:rPr>
              <a:t>compute_df()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95604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Hitung jumlah dokumen per term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" y="5413248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5376672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376672"/>
            <a:ext cx="73152" cy="40233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41324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4DFF"/>
                </a:solidFill>
              </a:rPr>
              <a:t>compute_idf()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431536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log10(N / df[term]) tiap term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" y="5888736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5852160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5852160"/>
            <a:ext cx="73152" cy="40233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58887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5FE4"/>
                </a:solidFill>
              </a:rPr>
              <a:t>compute_tfidf()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907024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tf[doc][term] × idf[term]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" y="6364224"/>
            <a:ext cx="4754880" cy="402336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" y="6327648"/>
            <a:ext cx="4754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" y="6327648"/>
            <a:ext cx="73152" cy="40233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" y="63642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FA5"/>
                </a:solidFill>
              </a:rPr>
              <a:t>get_vector()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63825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560"/>
                </a:solidFill>
              </a:rPr>
              <a:t>Dict TF-IDF → list vektor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0" y="337413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89534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Tabel TF-IDF per term query &amp; dokumen
(tampilan di web 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Similarity &amp;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modules/similarity.py  |  class SimilarityCalculator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D3B"/>
                </a:solidFill>
              </a:rPr>
              <a:t>Cosine Similarity  (Metode Utama)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1865376"/>
            <a:ext cx="4754880" cy="731520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47548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4754880" cy="64008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6C"/>
                </a:solidFill>
              </a:rPr>
              <a:t>cos(q, d)  =  (q · d)  /  (|q|  ×  |d|)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2AC"/>
                </a:solidFill>
              </a:rPr>
              <a:t>Rentang nilai: 0.0 (tidak relevan) — 1.0 (sangat relevan)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Euclidean Distance  (Alternatif)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" y="3218688"/>
            <a:ext cx="4754880" cy="658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182112"/>
            <a:ext cx="4754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82112"/>
            <a:ext cx="4754880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012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76C"/>
                </a:solidFill>
              </a:rPr>
              <a:t>d(q, d)  =  √ Σ ( qᵢ − dᵢ )²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307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2AC"/>
                </a:solidFill>
              </a:rPr>
              <a:t>Semakin kecil nilai  →  semakin mirip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416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Proses 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0740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98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Hitung similarity query vs. semua dokumen (loop)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560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Simpan list: [{ filename, score, snippet }]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13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Urutkan DESC berdasarkan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704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Assign rank: 1, 2, 3, ... setelah sorting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37413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89534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Tabel ranking hasil pencarian
&amp; similarity matrix antar dokumen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Auto-Correct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main.py  |  IRSystem.search()  —  menggunakan difflib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Cara Kerja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865376"/>
            <a:ext cx="274320" cy="274320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" y="18836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86537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Bangun valid_words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214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Set semua token dari dokumen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" y="25237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50545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Tokenisasi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76148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Pecah input jadi token-token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" y="31638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4553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Cek Tiap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0156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Ada di valid_words? Ya → lanjut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785615"/>
            <a:ext cx="274320" cy="2743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" y="380390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85615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difflib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04164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get_close_matches(cutoff=0.75, n=1)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4425696"/>
            <a:ext cx="274320" cy="274320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" y="444398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2569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Susun Ulang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8172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Gabung token yang telah terkoreksi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" y="5065775"/>
            <a:ext cx="274320" cy="2743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" y="50840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65775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Notifikasi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32180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'Menampilkan hasil untuk: ...'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961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Contoh Koreksi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327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00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5FE4"/>
                </a:solidFill>
              </a:rPr>
              <a:t>"jakrta"  →  "jakarta"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675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BFA5"/>
                </a:solidFill>
              </a:rPr>
              <a:t>"klimantan"  →  "kalimantan"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949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6D3B"/>
                </a:solidFill>
              </a:rPr>
              <a:t>"jogyakarta"  →  "yogyakarta"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337413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89534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Notifikasi auto-correct
di halaman hasil pencarian 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Snippet Dinamis &amp; Highlight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main.py  |  _generate_snippet()  &amp;  _highlight_snippet()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Snippet Dinamis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865376"/>
            <a:ext cx="274320" cy="2743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" y="18836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86537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Cari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214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Temukan posisi term terpanjang query di teks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523744"/>
            <a:ext cx="274320" cy="274320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" y="25420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52374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Potong Teks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77977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Ambil window ±150 karakter di sekitar term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182112"/>
            <a:ext cx="274320" cy="274320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" y="32004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82112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Ellipsis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3814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Tambah '...' jika potongan di tengah teks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840479"/>
            <a:ext cx="274320" cy="2743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" y="38587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84047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096511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Jika term tak ditemukan, ambil 300 char pertama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17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Highlight Kata Kunci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983480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5065775"/>
            <a:ext cx="274320" cy="274320"/>
          </a:xfrm>
          <a:prstGeom prst="ellipse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" y="50840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5065775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Escape 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32180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markupsafe.escape(snippet) agar aman dari XSS</a:t>
            </a:r>
          </a:p>
        </p:txBody>
      </p:sp>
      <p:sp>
        <p:nvSpPr>
          <p:cNvPr id="31" name="Oval 30"/>
          <p:cNvSpPr/>
          <p:nvPr/>
        </p:nvSpPr>
        <p:spPr>
          <a:xfrm>
            <a:off x="594360" y="5669279"/>
            <a:ext cx="274320" cy="2743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" y="56875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66927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Regex 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925312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re.sub case-insensitive untuk tiap token query</a:t>
            </a:r>
          </a:p>
        </p:txBody>
      </p:sp>
      <p:sp>
        <p:nvSpPr>
          <p:cNvPr id="35" name="Oval 34"/>
          <p:cNvSpPr/>
          <p:nvPr/>
        </p:nvSpPr>
        <p:spPr>
          <a:xfrm>
            <a:off x="594360" y="6272783"/>
            <a:ext cx="274320" cy="274320"/>
          </a:xfrm>
          <a:prstGeom prst="ellipse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" y="62910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6272783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6C"/>
                </a:solidFill>
              </a:rPr>
              <a:t>Wrap &lt;mark&gt;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652881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Bungkus term cocok dengan &lt;mark&gt;...&lt;/mark&gt;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31536" y="1389888"/>
            <a:ext cx="6492240" cy="523036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94960" y="1353312"/>
            <a:ext cx="6492240" cy="5230368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337413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389534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Snippet dengan kata kunci ter-highlight
(tampilan di halaman hasil)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EA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6C"/>
                </a:solidFill>
              </a:rPr>
              <a:t>Fitur: Antarmuka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1247120" cy="36576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A82AC"/>
                </a:solidFill>
              </a:rPr>
              <a:t>app.py  |  templates/index.html  —  Flask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Fitur Halaman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5564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Search bar Google-style, submit via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Daftar hasil: rank, skor, nama, snippet + 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98064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Notifikasi banner jika query dikoreksi otomatis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73552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Klik nama dokumen → buka PDF langsung di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9039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Tabel preprocessing query (token → clean → stem)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24528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Tabel TF-IDF per term query &amp; dokumen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00016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•  Similarity matrix antar semua dokumen (N×N)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21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Routing 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687568"/>
            <a:ext cx="4754880" cy="27432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742432"/>
            <a:ext cx="1691640" cy="27432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69864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 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760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Tampilkan halaman kosong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135624"/>
            <a:ext cx="1691640" cy="2743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16305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61539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Jalankan pencarian, kirim ke template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28816"/>
            <a:ext cx="1691640" cy="274320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562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 /docs/&lt;file&gt;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65471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3560"/>
                </a:solidFill>
              </a:rPr>
              <a:t>Serve file PDF ke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1536" y="1389888"/>
            <a:ext cx="6492240" cy="2596895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353312"/>
            <a:ext cx="6492240" cy="2596895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2057399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578607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980943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Halaman utama + daftar hasil pencarian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31536" y="4096511"/>
            <a:ext cx="6492240" cy="2523744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4960" y="4059935"/>
            <a:ext cx="6492240" cy="2523744"/>
          </a:xfrm>
          <a:prstGeom prst="rect">
            <a:avLst/>
          </a:prstGeom>
          <a:solidFill>
            <a:srgbClr val="EAE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4727447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82AC"/>
                </a:solidFill>
              </a:rPr>
              <a:t>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248655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82AC"/>
                </a:solidFill>
              </a:rPr>
              <a:t>[ Screenshot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65099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2AC"/>
                </a:solidFill>
              </a:rPr>
              <a:t>Tabel TF-IDF detail &amp; similarity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03120" y="-640080"/>
            <a:ext cx="3108960" cy="3108960"/>
          </a:xfrm>
          <a:prstGeom prst="ellipse">
            <a:avLst/>
          </a:prstGeom>
          <a:solidFill>
            <a:srgbClr val="55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1A4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3172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101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5D8FF"/>
                </a:solidFill>
              </a:rPr>
              <a:t>Ada pertanyaan?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4023360" cy="45720"/>
          </a:xfrm>
          <a:prstGeom prst="rect">
            <a:avLst/>
          </a:prstGeom>
          <a:solidFill>
            <a:srgbClr val="A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023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8FF"/>
                </a:solidFill>
              </a:rPr>
              <a:t>Jalankan:  python app.py
URL:  http://localhost:5000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76C"/>
                </a:solidFill>
              </a:rPr>
              <a:t>Ringkasan Sistem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645920"/>
            <a:ext cx="6400800" cy="45720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77256" y="1865376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0680" y="1828800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1828800"/>
            <a:ext cx="109728" cy="704088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10 Dokumen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92024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Profil 10 provinsi Indonesia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7256" y="2660904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2624328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0680" y="2624328"/>
            <a:ext cx="109728" cy="7040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5 Tahap NLP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71576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Case fold → Tokenize → Stopword → 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77256" y="3456432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3419856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0680" y="3419856"/>
            <a:ext cx="109728" cy="704088"/>
          </a:xfrm>
          <a:prstGeom prst="rect">
            <a:avLst/>
          </a:prstGeom>
          <a:solidFill>
            <a:srgbClr val="FF6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D3B"/>
                </a:solidFill>
              </a:rPr>
              <a:t>TF-IDF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51129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Representasi bobot term per dokumen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77256" y="4251959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40680" y="4215383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40680" y="4215383"/>
            <a:ext cx="109728" cy="7040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4288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</a:rPr>
              <a:t>Cosine Similarity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4306823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Metrik relevansi query vs. dokumen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7256" y="5047488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0680" y="5010912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5010912"/>
            <a:ext cx="109728" cy="704088"/>
          </a:xfrm>
          <a:prstGeom prst="rect">
            <a:avLst/>
          </a:prstGeom>
          <a:solidFill>
            <a:srgbClr val="335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5084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FE4"/>
                </a:solidFill>
              </a:rPr>
              <a:t>Auto-Correct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510235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Toleransi typo via difflib (0.75)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7256" y="5843016"/>
            <a:ext cx="6400800" cy="704088"/>
          </a:xfrm>
          <a:prstGeom prst="rect">
            <a:avLst/>
          </a:prstGeom>
          <a:solidFill>
            <a:srgbClr val="C8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5806440"/>
            <a:ext cx="640080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40680" y="5806440"/>
            <a:ext cx="109728" cy="7040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5879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Flask Web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5897879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3560"/>
                </a:solidFill>
              </a:rPr>
              <a:t>Real-time search + tabel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